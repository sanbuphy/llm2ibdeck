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" name="Deck Title"/>
          <p:cNvSpPr/>
          <p:nvPr/>
        </p:nvSpPr>
        <p:spPr>
          <a:xfrm>
            <a:off x="685800" y="214884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17365D"/>
                </a:solidFill>
                <a:latin typeface="Aptos"/>
              </a:rPr>
              <a:t>AI Data Centers in Southeast Asia</a:t>
            </a:r>
          </a:p>
        </p:txBody>
      </p:sp>
      <p:sp>
        <p:nvSpPr>
          <p:cNvPr id="5" name="Deck Subtitle"/>
          <p:cNvSpPr/>
          <p:nvPr/>
        </p:nvSpPr>
        <p:spPr>
          <a:xfrm>
            <a:off x="713232" y="29718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5B6770"/>
                </a:solidFill>
                <a:latin typeface="Aptos"/>
              </a:rPr>
              <a:t>Market scan and investment implications</a:t>
            </a:r>
          </a:p>
        </p:txBody>
      </p:sp>
      <p:cxnSp>
        <p:nvCxnSpPr>
          <p:cNvPr id="6" name="Title Rule"/>
          <p:cNvCxnSpPr/>
          <p:nvPr/>
        </p:nvCxnSpPr>
        <p:spPr>
          <a:xfrm>
            <a:off x="713232" y="3657600"/>
            <a:ext cx="2926080" cy="0"/>
          </a:xfrm>
          <a:prstGeom prst="line">
            <a:avLst/>
          </a:prstGeom>
          <a:ln w="19050">
            <a:solidFill>
              <a:srgbClr val="4472C4"/>
            </a:solidFill>
          </a:ln>
        </p:spPr>
      </p:cxnSp>
      <p:sp>
        <p:nvSpPr>
          <p:cNvPr id="7" name="Footer"/>
          <p:cNvSpPr/>
          <p:nvPr/>
        </p:nvSpPr>
        <p:spPr>
          <a:xfrm>
            <a:off x="713232" y="6355080"/>
            <a:ext cx="93268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00">
                <a:solidFill>
                  <a:srgbClr val="5B6770"/>
                </a:solidFill>
                <a:latin typeface="Aptos"/>
              </a:rPr>
              <a:t>IBDeck |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tion Title"/>
          <p:cNvSpPr/>
          <p:nvPr/>
        </p:nvSpPr>
        <p:spPr>
          <a:xfrm>
            <a:off x="411480" y="228600"/>
            <a:ext cx="1078992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365D"/>
                </a:solidFill>
                <a:latin typeface="Aptos"/>
              </a:rPr>
              <a:t>SEA AI data center demand is attractive, but near-term power access will separate winners from followers</a:t>
            </a:r>
          </a:p>
        </p:txBody>
      </p:sp>
      <p:cxnSp>
        <p:nvCxnSpPr>
          <p:cNvPr id="4" name="Title Rule"/>
          <p:cNvCxnSpPr/>
          <p:nvPr/>
        </p:nvCxnSpPr>
        <p:spPr>
          <a:xfrm>
            <a:off x="411480" y="841248"/>
            <a:ext cx="11109960" cy="0"/>
          </a:xfrm>
          <a:prstGeom prst="line">
            <a:avLst/>
          </a:prstGeom>
          <a:ln w="12700">
            <a:solidFill>
              <a:srgbClr val="D9E2EC"/>
            </a:solidFill>
          </a:ln>
        </p:spPr>
      </p:cxnSp>
      <p:sp>
        <p:nvSpPr>
          <p:cNvPr id="5" name="Footer"/>
          <p:cNvSpPr/>
          <p:nvPr/>
        </p:nvSpPr>
        <p:spPr>
          <a:xfrm>
            <a:off x="411480" y="6473952"/>
            <a:ext cx="9326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IBDeck | Draft for discussion</a:t>
            </a:r>
          </a:p>
        </p:txBody>
      </p:sp>
      <p:sp>
        <p:nvSpPr>
          <p:cNvPr id="6" name="Page Number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>
                <a:solidFill>
                  <a:srgbClr val="5B6770"/>
                </a:solidFill>
                <a:latin typeface="Aptos"/>
              </a:rPr>
              <a:t>2</a:t>
            </a:r>
          </a:p>
        </p:txBody>
      </p:sp>
      <p:sp>
        <p:nvSpPr>
          <p:cNvPr id="7" name="Message 1"/>
          <p:cNvSpPr/>
          <p:nvPr/>
        </p:nvSpPr>
        <p:spPr>
          <a:xfrm>
            <a:off x="530352" y="1143000"/>
            <a:ext cx="5349240" cy="841248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300">
                <a:solidFill>
                  <a:srgbClr val="1F2933"/>
                </a:solidFill>
                <a:latin typeface="Aptos"/>
              </a:rPr>
              <a:t>Hyperscale and AI workload growth are increasing demand for high-density, power-secure capacity.</a:t>
            </a:r>
          </a:p>
        </p:txBody>
      </p:sp>
      <p:sp>
        <p:nvSpPr>
          <p:cNvPr id="8" name="Message Accent 1"/>
          <p:cNvSpPr/>
          <p:nvPr/>
        </p:nvSpPr>
        <p:spPr>
          <a:xfrm>
            <a:off x="530352" y="1143000"/>
            <a:ext cx="64008" cy="84124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Message 2"/>
          <p:cNvSpPr/>
          <p:nvPr/>
        </p:nvSpPr>
        <p:spPr>
          <a:xfrm>
            <a:off x="6062472" y="1143000"/>
            <a:ext cx="5349240" cy="841248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300">
                <a:solidFill>
                  <a:srgbClr val="1F2933"/>
                </a:solidFill>
                <a:latin typeface="Aptos"/>
              </a:rPr>
              <a:t>Singapore constraints are pushing incremental demand toward Johor, Batam, Bangkok, Manila, and Ho Chi Minh City.</a:t>
            </a:r>
          </a:p>
        </p:txBody>
      </p:sp>
      <p:sp>
        <p:nvSpPr>
          <p:cNvPr id="10" name="Message Accent 2"/>
          <p:cNvSpPr/>
          <p:nvPr/>
        </p:nvSpPr>
        <p:spPr>
          <a:xfrm>
            <a:off x="6062472" y="1143000"/>
            <a:ext cx="64008" cy="84124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1" name="Message 3"/>
          <p:cNvSpPr/>
          <p:nvPr/>
        </p:nvSpPr>
        <p:spPr>
          <a:xfrm>
            <a:off x="530352" y="2221991"/>
            <a:ext cx="5349240" cy="841248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300">
                <a:solidFill>
                  <a:srgbClr val="1F2933"/>
                </a:solidFill>
                <a:latin typeface="Aptos"/>
              </a:rPr>
              <a:t>Investors should prioritize sites with contracted power, credible cooling design, and cloud/customer pre-commitments.</a:t>
            </a:r>
          </a:p>
        </p:txBody>
      </p:sp>
      <p:sp>
        <p:nvSpPr>
          <p:cNvPr id="12" name="Message Accent 3"/>
          <p:cNvSpPr/>
          <p:nvPr/>
        </p:nvSpPr>
        <p:spPr>
          <a:xfrm>
            <a:off x="530352" y="2221991"/>
            <a:ext cx="64008" cy="84124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3" name="Message 4"/>
          <p:cNvSpPr/>
          <p:nvPr/>
        </p:nvSpPr>
        <p:spPr>
          <a:xfrm>
            <a:off x="6062472" y="2221991"/>
            <a:ext cx="5349240" cy="841248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300">
                <a:solidFill>
                  <a:srgbClr val="1F2933"/>
                </a:solidFill>
                <a:latin typeface="Aptos"/>
              </a:rPr>
              <a:t>Key diligence gaps include grid queue position, land title, water access, and renewable procurement economics.</a:t>
            </a:r>
          </a:p>
        </p:txBody>
      </p:sp>
      <p:sp>
        <p:nvSpPr>
          <p:cNvPr id="14" name="Message Accent 4"/>
          <p:cNvSpPr/>
          <p:nvPr/>
        </p:nvSpPr>
        <p:spPr>
          <a:xfrm>
            <a:off x="6062472" y="2221991"/>
            <a:ext cx="64008" cy="84124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5" name="Source"/>
          <p:cNvSpPr/>
          <p:nvPr/>
        </p:nvSpPr>
        <p:spPr>
          <a:xfrm>
            <a:off x="530352" y="6144768"/>
            <a:ext cx="10607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Source: Public industry sources; company disclosures; IBDeck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tion Title"/>
          <p:cNvSpPr/>
          <p:nvPr/>
        </p:nvSpPr>
        <p:spPr>
          <a:xfrm>
            <a:off x="411480" y="228600"/>
            <a:ext cx="1078992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365D"/>
                </a:solidFill>
                <a:latin typeface="Aptos"/>
              </a:rPr>
              <a:t>Illustrative demand scenario shows accelerated capacity absorption under AI workload growth</a:t>
            </a:r>
          </a:p>
        </p:txBody>
      </p:sp>
      <p:cxnSp>
        <p:nvCxnSpPr>
          <p:cNvPr id="4" name="Title Rule"/>
          <p:cNvCxnSpPr/>
          <p:nvPr/>
        </p:nvCxnSpPr>
        <p:spPr>
          <a:xfrm>
            <a:off x="411480" y="841248"/>
            <a:ext cx="11109960" cy="0"/>
          </a:xfrm>
          <a:prstGeom prst="line">
            <a:avLst/>
          </a:prstGeom>
          <a:ln w="12700">
            <a:solidFill>
              <a:srgbClr val="D9E2EC"/>
            </a:solidFill>
          </a:ln>
        </p:spPr>
      </p:cxnSp>
      <p:sp>
        <p:nvSpPr>
          <p:cNvPr id="5" name="Footer"/>
          <p:cNvSpPr/>
          <p:nvPr/>
        </p:nvSpPr>
        <p:spPr>
          <a:xfrm>
            <a:off x="411480" y="6473952"/>
            <a:ext cx="9326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IBDeck | Draft for discussion</a:t>
            </a:r>
          </a:p>
        </p:txBody>
      </p:sp>
      <p:sp>
        <p:nvSpPr>
          <p:cNvPr id="6" name="Page Number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>
                <a:solidFill>
                  <a:srgbClr val="5B6770"/>
                </a:solidFill>
                <a:latin typeface="Aptos"/>
              </a:rPr>
              <a:t>3</a:t>
            </a:r>
          </a:p>
        </p:txBody>
      </p:sp>
      <p:cxnSp>
        <p:nvCxnSpPr>
          <p:cNvPr id="7" name="Axis"/>
          <p:cNvCxnSpPr/>
          <p:nvPr/>
        </p:nvCxnSpPr>
        <p:spPr>
          <a:xfrm>
            <a:off x="777240" y="5486400"/>
            <a:ext cx="9966960" cy="0"/>
          </a:xfrm>
          <a:prstGeom prst="line">
            <a:avLst/>
          </a:prstGeom>
          <a:ln w="12700">
            <a:solidFill>
              <a:srgbClr val="D9E2EC"/>
            </a:solidFill>
          </a:ln>
        </p:spPr>
      </p:cxnSp>
      <p:sp>
        <p:nvSpPr>
          <p:cNvPr id="8" name="Bar 1-1"/>
          <p:cNvSpPr/>
          <p:nvPr/>
        </p:nvSpPr>
        <p:spPr>
          <a:xfrm>
            <a:off x="859536" y="4089861"/>
            <a:ext cx="859536" cy="139653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Bar 1-2"/>
          <p:cNvSpPr/>
          <p:nvPr/>
        </p:nvSpPr>
        <p:spPr>
          <a:xfrm>
            <a:off x="1773936" y="5253643"/>
            <a:ext cx="859536" cy="232756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10" name="Category 1"/>
          <p:cNvSpPr/>
          <p:nvPr/>
        </p:nvSpPr>
        <p:spPr>
          <a:xfrm>
            <a:off x="777240" y="5577840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800">
                <a:solidFill>
                  <a:srgbClr val="5B6770"/>
                </a:solidFill>
                <a:latin typeface="Aptos"/>
              </a:rPr>
              <a:t>2026E</a:t>
            </a:r>
          </a:p>
        </p:txBody>
      </p:sp>
      <p:sp>
        <p:nvSpPr>
          <p:cNvPr id="11" name="Bar 2-1"/>
          <p:cNvSpPr/>
          <p:nvPr/>
        </p:nvSpPr>
        <p:spPr>
          <a:xfrm>
            <a:off x="2852928" y="3624349"/>
            <a:ext cx="859536" cy="186205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2" name="Bar 2-2"/>
          <p:cNvSpPr/>
          <p:nvPr/>
        </p:nvSpPr>
        <p:spPr>
          <a:xfrm>
            <a:off x="3767328" y="4904509"/>
            <a:ext cx="859536" cy="581890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13" name="Category 2"/>
          <p:cNvSpPr/>
          <p:nvPr/>
        </p:nvSpPr>
        <p:spPr>
          <a:xfrm>
            <a:off x="2770632" y="5577840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800">
                <a:solidFill>
                  <a:srgbClr val="5B6770"/>
                </a:solidFill>
                <a:latin typeface="Aptos"/>
              </a:rPr>
              <a:t>2027E</a:t>
            </a:r>
          </a:p>
        </p:txBody>
      </p:sp>
      <p:sp>
        <p:nvSpPr>
          <p:cNvPr id="14" name="Bar 3-1"/>
          <p:cNvSpPr/>
          <p:nvPr/>
        </p:nvSpPr>
        <p:spPr>
          <a:xfrm>
            <a:off x="4846320" y="3042458"/>
            <a:ext cx="859536" cy="244394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5" name="Bar 3-2"/>
          <p:cNvSpPr/>
          <p:nvPr/>
        </p:nvSpPr>
        <p:spPr>
          <a:xfrm>
            <a:off x="5760720" y="4438996"/>
            <a:ext cx="859536" cy="1047403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16" name="Category 3"/>
          <p:cNvSpPr/>
          <p:nvPr/>
        </p:nvSpPr>
        <p:spPr>
          <a:xfrm>
            <a:off x="4764024" y="5577840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800">
                <a:solidFill>
                  <a:srgbClr val="5B6770"/>
                </a:solidFill>
                <a:latin typeface="Aptos"/>
              </a:rPr>
              <a:t>2028E</a:t>
            </a:r>
          </a:p>
        </p:txBody>
      </p:sp>
      <p:sp>
        <p:nvSpPr>
          <p:cNvPr id="17" name="Bar 4-1"/>
          <p:cNvSpPr/>
          <p:nvPr/>
        </p:nvSpPr>
        <p:spPr>
          <a:xfrm>
            <a:off x="6839712" y="2344189"/>
            <a:ext cx="859536" cy="314221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8" name="Bar 4-2"/>
          <p:cNvSpPr/>
          <p:nvPr/>
        </p:nvSpPr>
        <p:spPr>
          <a:xfrm>
            <a:off x="7754112" y="3973483"/>
            <a:ext cx="859536" cy="1512916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19" name="Category 4"/>
          <p:cNvSpPr/>
          <p:nvPr/>
        </p:nvSpPr>
        <p:spPr>
          <a:xfrm>
            <a:off x="6757416" y="5577840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800">
                <a:solidFill>
                  <a:srgbClr val="5B6770"/>
                </a:solidFill>
                <a:latin typeface="Aptos"/>
              </a:rPr>
              <a:t>2029E</a:t>
            </a:r>
          </a:p>
        </p:txBody>
      </p:sp>
      <p:sp>
        <p:nvSpPr>
          <p:cNvPr id="20" name="Bar 5-1"/>
          <p:cNvSpPr/>
          <p:nvPr/>
        </p:nvSpPr>
        <p:spPr>
          <a:xfrm>
            <a:off x="8833104" y="1645919"/>
            <a:ext cx="859536" cy="384048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1" name="Bar 5-2"/>
          <p:cNvSpPr/>
          <p:nvPr/>
        </p:nvSpPr>
        <p:spPr>
          <a:xfrm>
            <a:off x="9747504" y="3391592"/>
            <a:ext cx="859536" cy="2094807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22" name="Category 5"/>
          <p:cNvSpPr/>
          <p:nvPr/>
        </p:nvSpPr>
        <p:spPr>
          <a:xfrm>
            <a:off x="8750808" y="5577840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800">
                <a:solidFill>
                  <a:srgbClr val="5B6770"/>
                </a:solidFill>
                <a:latin typeface="Aptos"/>
              </a:rPr>
              <a:t>2030E</a:t>
            </a:r>
          </a:p>
        </p:txBody>
      </p:sp>
      <p:sp>
        <p:nvSpPr>
          <p:cNvPr id="23" name="Legend Swatch 1"/>
          <p:cNvSpPr/>
          <p:nvPr/>
        </p:nvSpPr>
        <p:spPr>
          <a:xfrm>
            <a:off x="8046720" y="1024128"/>
            <a:ext cx="146304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4" name="Legend 1"/>
          <p:cNvSpPr/>
          <p:nvPr/>
        </p:nvSpPr>
        <p:spPr>
          <a:xfrm>
            <a:off x="8229600" y="100584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00">
                <a:solidFill>
                  <a:srgbClr val="5B6770"/>
                </a:solidFill>
                <a:latin typeface="Aptos"/>
              </a:rPr>
              <a:t>Base demand</a:t>
            </a:r>
          </a:p>
        </p:txBody>
      </p:sp>
      <p:sp>
        <p:nvSpPr>
          <p:cNvPr id="25" name="Legend Swatch 2"/>
          <p:cNvSpPr/>
          <p:nvPr/>
        </p:nvSpPr>
        <p:spPr>
          <a:xfrm>
            <a:off x="9281160" y="1024128"/>
            <a:ext cx="146304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26" name="Legend 2"/>
          <p:cNvSpPr/>
          <p:nvPr/>
        </p:nvSpPr>
        <p:spPr>
          <a:xfrm>
            <a:off x="9464040" y="100584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00">
                <a:solidFill>
                  <a:srgbClr val="5B6770"/>
                </a:solidFill>
                <a:latin typeface="Aptos"/>
              </a:rPr>
              <a:t>AI upside</a:t>
            </a:r>
          </a:p>
        </p:txBody>
      </p:sp>
      <p:sp>
        <p:nvSpPr>
          <p:cNvPr id="27" name="Source"/>
          <p:cNvSpPr/>
          <p:nvPr/>
        </p:nvSpPr>
        <p:spPr>
          <a:xfrm>
            <a:off x="530352" y="6144768"/>
            <a:ext cx="10607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Note: Illustrative GW demand scenario. Source: IBDeck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tion Title"/>
          <p:cNvSpPr/>
          <p:nvPr/>
        </p:nvSpPr>
        <p:spPr>
          <a:xfrm>
            <a:off x="411480" y="228600"/>
            <a:ext cx="1078992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365D"/>
                </a:solidFill>
                <a:latin typeface="Aptos"/>
              </a:rPr>
              <a:t>Power, connectivity, and policy maturity are the primary market-selection filters</a:t>
            </a:r>
          </a:p>
        </p:txBody>
      </p:sp>
      <p:cxnSp>
        <p:nvCxnSpPr>
          <p:cNvPr id="4" name="Title Rule"/>
          <p:cNvCxnSpPr/>
          <p:nvPr/>
        </p:nvCxnSpPr>
        <p:spPr>
          <a:xfrm>
            <a:off x="411480" y="841248"/>
            <a:ext cx="11109960" cy="0"/>
          </a:xfrm>
          <a:prstGeom prst="line">
            <a:avLst/>
          </a:prstGeom>
          <a:ln w="12700">
            <a:solidFill>
              <a:srgbClr val="D9E2EC"/>
            </a:solidFill>
          </a:ln>
        </p:spPr>
      </p:cxnSp>
      <p:sp>
        <p:nvSpPr>
          <p:cNvPr id="5" name="Footer"/>
          <p:cNvSpPr/>
          <p:nvPr/>
        </p:nvSpPr>
        <p:spPr>
          <a:xfrm>
            <a:off x="411480" y="6473952"/>
            <a:ext cx="9326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IBDeck | Draft for discussion</a:t>
            </a:r>
          </a:p>
        </p:txBody>
      </p:sp>
      <p:sp>
        <p:nvSpPr>
          <p:cNvPr id="6" name="Page Number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>
                <a:solidFill>
                  <a:srgbClr val="5B6770"/>
                </a:solidFill>
                <a:latin typeface="Aptos"/>
              </a:rPr>
              <a:t>4</a:t>
            </a:r>
          </a:p>
        </p:txBody>
      </p:sp>
      <p:sp>
        <p:nvSpPr>
          <p:cNvPr id="7" name="Header 1"/>
          <p:cNvSpPr/>
          <p:nvPr/>
        </p:nvSpPr>
        <p:spPr>
          <a:xfrm>
            <a:off x="530352" y="1143000"/>
            <a:ext cx="3657600" cy="438912"/>
          </a:xfrm>
          <a:prstGeom prst="rect">
            <a:avLst/>
          </a:prstGeom>
          <a:solidFill>
            <a:srgbClr val="17365D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ptos"/>
              </a:rPr>
              <a:t>Filter</a:t>
            </a:r>
          </a:p>
        </p:txBody>
      </p:sp>
      <p:sp>
        <p:nvSpPr>
          <p:cNvPr id="8" name="Header 2"/>
          <p:cNvSpPr/>
          <p:nvPr/>
        </p:nvSpPr>
        <p:spPr>
          <a:xfrm>
            <a:off x="4187952" y="1143000"/>
            <a:ext cx="3657600" cy="438912"/>
          </a:xfrm>
          <a:prstGeom prst="rect">
            <a:avLst/>
          </a:prstGeom>
          <a:solidFill>
            <a:srgbClr val="17365D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ptos"/>
              </a:rPr>
              <a:t>What to test</a:t>
            </a:r>
          </a:p>
        </p:txBody>
      </p:sp>
      <p:sp>
        <p:nvSpPr>
          <p:cNvPr id="9" name="Header 3"/>
          <p:cNvSpPr/>
          <p:nvPr/>
        </p:nvSpPr>
        <p:spPr>
          <a:xfrm>
            <a:off x="7845552" y="1143000"/>
            <a:ext cx="3657600" cy="438912"/>
          </a:xfrm>
          <a:prstGeom prst="rect">
            <a:avLst/>
          </a:prstGeom>
          <a:solidFill>
            <a:srgbClr val="17365D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ptos"/>
              </a:rPr>
              <a:t>Investment implication</a:t>
            </a:r>
          </a:p>
        </p:txBody>
      </p:sp>
      <p:sp>
        <p:nvSpPr>
          <p:cNvPr id="10" name="Cell 1-1"/>
          <p:cNvSpPr/>
          <p:nvPr/>
        </p:nvSpPr>
        <p:spPr>
          <a:xfrm>
            <a:off x="530352" y="1581912"/>
            <a:ext cx="3657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Power availability</a:t>
            </a:r>
          </a:p>
        </p:txBody>
      </p:sp>
      <p:sp>
        <p:nvSpPr>
          <p:cNvPr id="11" name="Cell 1-2"/>
          <p:cNvSpPr/>
          <p:nvPr/>
        </p:nvSpPr>
        <p:spPr>
          <a:xfrm>
            <a:off x="4187952" y="1581912"/>
            <a:ext cx="3657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Grid capacity, queue position, PPA path</a:t>
            </a:r>
          </a:p>
        </p:txBody>
      </p:sp>
      <p:sp>
        <p:nvSpPr>
          <p:cNvPr id="12" name="Cell 1-3"/>
          <p:cNvSpPr/>
          <p:nvPr/>
        </p:nvSpPr>
        <p:spPr>
          <a:xfrm>
            <a:off x="7845552" y="1581912"/>
            <a:ext cx="3657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Prioritize power-secure campuses</a:t>
            </a:r>
          </a:p>
        </p:txBody>
      </p:sp>
      <p:sp>
        <p:nvSpPr>
          <p:cNvPr id="13" name="Cell 2-1"/>
          <p:cNvSpPr/>
          <p:nvPr/>
        </p:nvSpPr>
        <p:spPr>
          <a:xfrm>
            <a:off x="530352" y="2020824"/>
            <a:ext cx="3657600" cy="438912"/>
          </a:xfrm>
          <a:prstGeom prst="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Connectivity</a:t>
            </a:r>
          </a:p>
        </p:txBody>
      </p:sp>
      <p:sp>
        <p:nvSpPr>
          <p:cNvPr id="14" name="Cell 2-2"/>
          <p:cNvSpPr/>
          <p:nvPr/>
        </p:nvSpPr>
        <p:spPr>
          <a:xfrm>
            <a:off x="4187952" y="2020824"/>
            <a:ext cx="3657600" cy="438912"/>
          </a:xfrm>
          <a:prstGeom prst="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Fiber routes, cloud on-ramps, latency</a:t>
            </a:r>
          </a:p>
        </p:txBody>
      </p:sp>
      <p:sp>
        <p:nvSpPr>
          <p:cNvPr id="15" name="Cell 2-3"/>
          <p:cNvSpPr/>
          <p:nvPr/>
        </p:nvSpPr>
        <p:spPr>
          <a:xfrm>
            <a:off x="7845552" y="2020824"/>
            <a:ext cx="3657600" cy="438912"/>
          </a:xfrm>
          <a:prstGeom prst="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Screen for network density</a:t>
            </a:r>
          </a:p>
        </p:txBody>
      </p:sp>
      <p:sp>
        <p:nvSpPr>
          <p:cNvPr id="16" name="Cell 3-1"/>
          <p:cNvSpPr/>
          <p:nvPr/>
        </p:nvSpPr>
        <p:spPr>
          <a:xfrm>
            <a:off x="530352" y="2459736"/>
            <a:ext cx="3657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Policy support</a:t>
            </a:r>
          </a:p>
        </p:txBody>
      </p:sp>
      <p:sp>
        <p:nvSpPr>
          <p:cNvPr id="17" name="Cell 3-2"/>
          <p:cNvSpPr/>
          <p:nvPr/>
        </p:nvSpPr>
        <p:spPr>
          <a:xfrm>
            <a:off x="4187952" y="2459736"/>
            <a:ext cx="3657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Data sovereignty, tax incentives, permitting</a:t>
            </a:r>
          </a:p>
        </p:txBody>
      </p:sp>
      <p:sp>
        <p:nvSpPr>
          <p:cNvPr id="18" name="Cell 3-3"/>
          <p:cNvSpPr/>
          <p:nvPr/>
        </p:nvSpPr>
        <p:spPr>
          <a:xfrm>
            <a:off x="7845552" y="2459736"/>
            <a:ext cx="3657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Avoid timing risk</a:t>
            </a:r>
          </a:p>
        </p:txBody>
      </p:sp>
      <p:sp>
        <p:nvSpPr>
          <p:cNvPr id="19" name="Cell 4-1"/>
          <p:cNvSpPr/>
          <p:nvPr/>
        </p:nvSpPr>
        <p:spPr>
          <a:xfrm>
            <a:off x="530352" y="2898648"/>
            <a:ext cx="3657600" cy="438912"/>
          </a:xfrm>
          <a:prstGeom prst="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Customer demand</a:t>
            </a:r>
          </a:p>
        </p:txBody>
      </p:sp>
      <p:sp>
        <p:nvSpPr>
          <p:cNvPr id="20" name="Cell 4-2"/>
          <p:cNvSpPr/>
          <p:nvPr/>
        </p:nvSpPr>
        <p:spPr>
          <a:xfrm>
            <a:off x="4187952" y="2898648"/>
            <a:ext cx="3657600" cy="438912"/>
          </a:xfrm>
          <a:prstGeom prst="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Anchor tenant pipeline and pre-leasing</a:t>
            </a:r>
          </a:p>
        </p:txBody>
      </p:sp>
      <p:sp>
        <p:nvSpPr>
          <p:cNvPr id="21" name="Cell 4-3"/>
          <p:cNvSpPr/>
          <p:nvPr/>
        </p:nvSpPr>
        <p:spPr>
          <a:xfrm>
            <a:off x="7845552" y="2898648"/>
            <a:ext cx="3657600" cy="438912"/>
          </a:xfrm>
          <a:prstGeom prst="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900">
                <a:solidFill>
                  <a:srgbClr val="1F2933"/>
                </a:solidFill>
                <a:latin typeface="Aptos"/>
              </a:rPr>
              <a:t>Reduce build-out speculation</a:t>
            </a:r>
          </a:p>
        </p:txBody>
      </p:sp>
      <p:sp>
        <p:nvSpPr>
          <p:cNvPr id="22" name="Source"/>
          <p:cNvSpPr/>
          <p:nvPr/>
        </p:nvSpPr>
        <p:spPr>
          <a:xfrm>
            <a:off x="530352" y="6144768"/>
            <a:ext cx="10607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Source: IBDeck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ction Title"/>
          <p:cNvSpPr/>
          <p:nvPr/>
        </p:nvSpPr>
        <p:spPr>
          <a:xfrm>
            <a:off x="411480" y="228600"/>
            <a:ext cx="1078992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365D"/>
                </a:solidFill>
                <a:latin typeface="Aptos"/>
              </a:rPr>
              <a:t>Recommended next step is a focused 6-week site and partner diligence sprint</a:t>
            </a:r>
          </a:p>
        </p:txBody>
      </p:sp>
      <p:cxnSp>
        <p:nvCxnSpPr>
          <p:cNvPr id="4" name="Title Rule"/>
          <p:cNvCxnSpPr/>
          <p:nvPr/>
        </p:nvCxnSpPr>
        <p:spPr>
          <a:xfrm>
            <a:off x="411480" y="841248"/>
            <a:ext cx="11109960" cy="0"/>
          </a:xfrm>
          <a:prstGeom prst="line">
            <a:avLst/>
          </a:prstGeom>
          <a:ln w="12700">
            <a:solidFill>
              <a:srgbClr val="D9E2EC"/>
            </a:solidFill>
          </a:ln>
        </p:spPr>
      </p:cxnSp>
      <p:sp>
        <p:nvSpPr>
          <p:cNvPr id="5" name="Footer"/>
          <p:cNvSpPr/>
          <p:nvPr/>
        </p:nvSpPr>
        <p:spPr>
          <a:xfrm>
            <a:off x="411480" y="6473952"/>
            <a:ext cx="93268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IBDeck | Draft for discussion</a:t>
            </a:r>
          </a:p>
        </p:txBody>
      </p:sp>
      <p:sp>
        <p:nvSpPr>
          <p:cNvPr id="6" name="Page Number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>
                <a:solidFill>
                  <a:srgbClr val="5B6770"/>
                </a:solidFill>
                <a:latin typeface="Aptos"/>
              </a:rPr>
              <a:t>5</a:t>
            </a:r>
          </a:p>
        </p:txBody>
      </p:sp>
      <p:sp>
        <p:nvSpPr>
          <p:cNvPr id="7" name="Phase 1"/>
          <p:cNvSpPr/>
          <p:nvPr/>
        </p:nvSpPr>
        <p:spPr>
          <a:xfrm>
            <a:off x="640080" y="1371600"/>
            <a:ext cx="3432048" cy="43891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Screen</a:t>
            </a:r>
          </a:p>
        </p:txBody>
      </p:sp>
      <p:sp>
        <p:nvSpPr>
          <p:cNvPr id="8" name="Period 1"/>
          <p:cNvSpPr/>
          <p:nvPr/>
        </p:nvSpPr>
        <p:spPr>
          <a:xfrm>
            <a:off x="640080" y="1901952"/>
            <a:ext cx="343204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900" b="1">
                <a:solidFill>
                  <a:srgbClr val="4472C4"/>
                </a:solidFill>
                <a:latin typeface="Aptos"/>
              </a:rPr>
              <a:t>Week 1-2</a:t>
            </a:r>
          </a:p>
        </p:txBody>
      </p:sp>
      <p:sp>
        <p:nvSpPr>
          <p:cNvPr id="9" name="Items 1"/>
          <p:cNvSpPr/>
          <p:nvPr/>
        </p:nvSpPr>
        <p:spPr>
          <a:xfrm>
            <a:off x="640080" y="2267712"/>
            <a:ext cx="3432048" cy="256032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000">
                <a:solidFill>
                  <a:srgbClr val="1F2933"/>
                </a:solidFill>
                <a:latin typeface="Aptos"/>
              </a:rPr>
              <a:t>• Shortlist 5-8 metro/site candidates</a:t>
            </a:r>
          </a:p>
          <a:p>
            <a:pPr algn="l"/>
            <a:r>
              <a:rPr lang="en-US" sz="1000">
                <a:solidFill>
                  <a:srgbClr val="1F2933"/>
                </a:solidFill>
                <a:latin typeface="Aptos"/>
              </a:rPr>
              <a:t>• Map power and fiber constraints</a:t>
            </a:r>
          </a:p>
        </p:txBody>
      </p:sp>
      <p:sp>
        <p:nvSpPr>
          <p:cNvPr id="10" name="Phase 2"/>
          <p:cNvSpPr/>
          <p:nvPr/>
        </p:nvSpPr>
        <p:spPr>
          <a:xfrm>
            <a:off x="4236720" y="1371600"/>
            <a:ext cx="3432048" cy="43891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1" name="Period 2"/>
          <p:cNvSpPr/>
          <p:nvPr/>
        </p:nvSpPr>
        <p:spPr>
          <a:xfrm>
            <a:off x="4236720" y="1901952"/>
            <a:ext cx="343204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900" b="1">
                <a:solidFill>
                  <a:srgbClr val="4472C4"/>
                </a:solidFill>
                <a:latin typeface="Aptos"/>
              </a:rPr>
              <a:t>Week 3-4</a:t>
            </a:r>
          </a:p>
        </p:txBody>
      </p:sp>
      <p:sp>
        <p:nvSpPr>
          <p:cNvPr id="12" name="Items 2"/>
          <p:cNvSpPr/>
          <p:nvPr/>
        </p:nvSpPr>
        <p:spPr>
          <a:xfrm>
            <a:off x="4236720" y="2267712"/>
            <a:ext cx="3432048" cy="256032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000">
                <a:solidFill>
                  <a:srgbClr val="1F2933"/>
                </a:solidFill>
                <a:latin typeface="Aptos"/>
              </a:rPr>
              <a:t>• Engage utilities and landowners</a:t>
            </a:r>
          </a:p>
          <a:p>
            <a:pPr algn="l"/>
            <a:r>
              <a:rPr lang="en-US" sz="1000">
                <a:solidFill>
                  <a:srgbClr val="1F2933"/>
                </a:solidFill>
                <a:latin typeface="Aptos"/>
              </a:rPr>
              <a:t>• Test anchor customer demand</a:t>
            </a:r>
          </a:p>
        </p:txBody>
      </p:sp>
      <p:sp>
        <p:nvSpPr>
          <p:cNvPr id="13" name="Phase 3"/>
          <p:cNvSpPr/>
          <p:nvPr/>
        </p:nvSpPr>
        <p:spPr>
          <a:xfrm>
            <a:off x="7833360" y="1371600"/>
            <a:ext cx="3432048" cy="43891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14" name="Period 3"/>
          <p:cNvSpPr/>
          <p:nvPr/>
        </p:nvSpPr>
        <p:spPr>
          <a:xfrm>
            <a:off x="7833360" y="1901952"/>
            <a:ext cx="343204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900" b="1">
                <a:solidFill>
                  <a:srgbClr val="4472C4"/>
                </a:solidFill>
                <a:latin typeface="Aptos"/>
              </a:rPr>
              <a:t>Week 5-6</a:t>
            </a:r>
          </a:p>
        </p:txBody>
      </p:sp>
      <p:sp>
        <p:nvSpPr>
          <p:cNvPr id="15" name="Items 3"/>
          <p:cNvSpPr/>
          <p:nvPr/>
        </p:nvSpPr>
        <p:spPr>
          <a:xfrm>
            <a:off x="7833360" y="2267712"/>
            <a:ext cx="3432048" cy="256032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000">
                <a:solidFill>
                  <a:srgbClr val="1F2933"/>
                </a:solidFill>
                <a:latin typeface="Aptos"/>
              </a:rPr>
              <a:t>• Compare economics</a:t>
            </a:r>
          </a:p>
          <a:p>
            <a:pPr algn="l"/>
            <a:r>
              <a:rPr lang="en-US" sz="1000">
                <a:solidFill>
                  <a:srgbClr val="1F2933"/>
                </a:solidFill>
                <a:latin typeface="Aptos"/>
              </a:rPr>
              <a:t>• Select entry route and partner shortlist</a:t>
            </a:r>
          </a:p>
        </p:txBody>
      </p:sp>
      <p:sp>
        <p:nvSpPr>
          <p:cNvPr id="16" name="Source"/>
          <p:cNvSpPr/>
          <p:nvPr/>
        </p:nvSpPr>
        <p:spPr>
          <a:xfrm>
            <a:off x="530352" y="6144768"/>
            <a:ext cx="106070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>
                <a:solidFill>
                  <a:srgbClr val="5B6770"/>
                </a:solidFill>
                <a:latin typeface="Aptos"/>
              </a:rPr>
              <a:t>Source: IBDeck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Deck">
  <a:themeElements>
    <a:clrScheme name="IBDeck">
      <a:dk1>
        <a:srgbClr val="1F2933"/>
      </a:dk1>
      <a:lt1>
        <a:srgbClr val="FFFFFF"/>
      </a:lt1>
      <a:dk2>
        <a:srgbClr val="17365D"/>
      </a:dk2>
      <a:lt2>
        <a:srgbClr val="F3F5F7"/>
      </a:lt2>
      <a:accent1>
        <a:srgbClr val="17365D"/>
      </a:accent1>
      <a:accent2>
        <a:srgbClr val="4472C4"/>
      </a:accent2>
      <a:accent3>
        <a:srgbClr val="70AD47"/>
      </a:accent3>
      <a:accent4>
        <a:srgbClr val="5B6770"/>
      </a:accent4>
      <a:accent5>
        <a:srgbClr val="D9E2EC"/>
      </a:accent5>
      <a:accent6>
        <a:srgbClr val="F3F5F7"/>
      </a:accent6>
      <a:hlink>
        <a:srgbClr val="4472C4"/>
      </a:hlink>
      <a:folHlink>
        <a:srgbClr val="5B6770"/>
      </a:folHlink>
    </a:clrScheme>
    <a:fontScheme name="IBDeck">
      <a:majorFont>
        <a:latin typeface="Aptos"/>
      </a:majorFont>
      <a:minorFont>
        <a:latin typeface="Aptos"/>
      </a:minorFont>
    </a:fontScheme>
    <a:fmtScheme name="IBDeck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IBDeck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Centers in Southeast Asia</dc:title>
  <dc:creator>IBDeck</dc:creator>
  <cp:lastModifiedBy>IBDeck</cp:lastModifiedBy>
</cp:coreProperties>
</file>